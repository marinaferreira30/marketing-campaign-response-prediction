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53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1F6-B344-9A9F-56592C351EBA}"/>
              </c:ext>
            </c:extLst>
          </c:dPt>
          <c:dPt>
            <c:idx val="1"/>
            <c:bubble3D val="0"/>
            <c:spPr>
              <a:solidFill>
                <a:srgbClr val="9AA0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F6-B344-9A9F-56592C351EBA}"/>
              </c:ext>
            </c:extLst>
          </c:dPt>
          <c:dLbls>
            <c:dLbl>
              <c:idx val="0"/>
              <c:layout>
                <c:manualLayout>
                  <c:x val="-0.13361088180509695"/>
                  <c:y val="0.19844583106356989"/>
                </c:manualLayout>
              </c:layout>
              <c:numFmt formatCode="0.0&quot;%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F6-B344-9A9F-56592C351EBA}"/>
                </c:ext>
              </c:extLst>
            </c:dLbl>
            <c:dLbl>
              <c:idx val="1"/>
              <c:layout>
                <c:manualLayout>
                  <c:x val="0.22427927355854713"/>
                  <c:y val="-0.26579383944931412"/>
                </c:manualLayout>
              </c:layout>
              <c:numFmt formatCode="0.0&quot;%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1F6-B344-9A9F-56592C351EBA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Responded</c:v>
                </c:pt>
                <c:pt idx="1">
                  <c:v>Did Not Respond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14.9</c:v>
                </c:pt>
                <c:pt idx="1">
                  <c:v>85.1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F6-B344-9A9F-56592C351E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Recency</c:v>
                </c:pt>
                <c:pt idx="1">
                  <c:v>Meat spending</c:v>
                </c:pt>
                <c:pt idx="2">
                  <c:v>Wine spending</c:v>
                </c:pt>
                <c:pt idx="3">
                  <c:v>Accepted Cmp 3</c:v>
                </c:pt>
                <c:pt idx="4">
                  <c:v>Accepted Cmp 1</c:v>
                </c:pt>
                <c:pt idx="5">
                  <c:v>Accepted Cmp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-0.2</c:v>
                </c:pt>
                <c:pt idx="1">
                  <c:v>0.24</c:v>
                </c:pt>
                <c:pt idx="2">
                  <c:v>0.25</c:v>
                </c:pt>
                <c:pt idx="3">
                  <c:v>0.25</c:v>
                </c:pt>
                <c:pt idx="4">
                  <c:v>0.28999999999999998</c:v>
                </c:pt>
                <c:pt idx="5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BE-D747-87DE-7131929465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b"/>
        <c:majorGridlines>
          <c:spPr>
            <a:ln w="12700" cap="flat">
              <a:solidFill>
                <a:srgbClr val="E4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A5F73"/>
                    </a:solidFill>
                    <a:latin typeface="Arial"/>
                  </a:rPr>
                  <a:t>Correlation with Response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9AA0B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CE0-AE46-9EF4-39A1562489F2}"/>
              </c:ext>
            </c:extLst>
          </c:dPt>
          <c:dPt>
            <c:idx val="1"/>
            <c:invertIfNegative val="0"/>
            <c:bubble3D val="0"/>
            <c:spPr>
              <a:solidFill>
                <a:srgbClr val="D953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E0-AE46-9EF4-39A1562489F2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Did Not Accept
Past Campaign</c:v>
                </c:pt>
                <c:pt idx="1">
                  <c:v>Accepted
Past Campaign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11.7</c:v>
                </c:pt>
                <c:pt idx="1">
                  <c:v>56.4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E0-AE46-9EF4-39A1562489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</c:scaling>
        <c:delete val="0"/>
        <c:axPos val="l"/>
        <c:majorGridlines>
          <c:spPr>
            <a:ln w="12700" cap="flat">
              <a:solidFill>
                <a:srgbClr val="E4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A5F73"/>
                    </a:solidFill>
                    <a:latin typeface="Arial"/>
                  </a:rPr>
                  <a:t>Response Rate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Did Not Respond</c:v>
                </c:pt>
              </c:strCache>
            </c:strRef>
          </c:tx>
          <c:spPr>
            <a:solidFill>
              <a:srgbClr val="9AA0B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Wines</c:v>
                </c:pt>
                <c:pt idx="1">
                  <c:v>Meat</c:v>
                </c:pt>
                <c:pt idx="2">
                  <c:v>Gold</c:v>
                </c:pt>
                <c:pt idx="3">
                  <c:v>Fish</c:v>
                </c:pt>
                <c:pt idx="4">
                  <c:v>Sweets</c:v>
                </c:pt>
                <c:pt idx="5">
                  <c:v>Fruits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270</c:v>
                </c:pt>
                <c:pt idx="1">
                  <c:v>145</c:v>
                </c:pt>
                <c:pt idx="2">
                  <c:v>36</c:v>
                </c:pt>
                <c:pt idx="3">
                  <c:v>30</c:v>
                </c:pt>
                <c:pt idx="4">
                  <c:v>19</c:v>
                </c:pt>
                <c:pt idx="5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25-E645-BA87-09DA222BC8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Responded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Wines</c:v>
                </c:pt>
                <c:pt idx="1">
                  <c:v>Meat</c:v>
                </c:pt>
                <c:pt idx="2">
                  <c:v>Gold</c:v>
                </c:pt>
                <c:pt idx="3">
                  <c:v>Fish</c:v>
                </c:pt>
                <c:pt idx="4">
                  <c:v>Sweets</c:v>
                </c:pt>
                <c:pt idx="5">
                  <c:v>Fruits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505</c:v>
                </c:pt>
                <c:pt idx="1">
                  <c:v>295</c:v>
                </c:pt>
                <c:pt idx="2">
                  <c:v>59</c:v>
                </c:pt>
                <c:pt idx="3">
                  <c:v>48</c:v>
                </c:pt>
                <c:pt idx="4">
                  <c:v>34</c:v>
                </c:pt>
                <c:pt idx="5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25-E645-BA87-09DA222BC8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A5F73"/>
                    </a:solidFill>
                    <a:latin typeface="Arial"/>
                  </a:rPr>
                  <a:t>Average Spending ($)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B1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Spending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674-A545-9F62-12731D213FB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674-A545-9F62-12731D213FB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674-A545-9F62-12731D213FBA}"/>
              </c:ext>
            </c:extLst>
          </c:dPt>
          <c:dPt>
            <c:idx val="3"/>
            <c:invertIfNegative val="0"/>
            <c:bubble3D val="0"/>
            <c:spPr>
              <a:solidFill>
                <a:srgbClr val="9AA0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674-A545-9F62-12731D213FBA}"/>
              </c:ext>
            </c:extLst>
          </c:dPt>
          <c:dPt>
            <c:idx val="4"/>
            <c:invertIfNegative val="0"/>
            <c:bubble3D val="0"/>
            <c:spPr>
              <a:solidFill>
                <a:srgbClr val="9AA0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674-A545-9F62-12731D213FBA}"/>
              </c:ext>
            </c:extLst>
          </c:dPt>
          <c:dPt>
            <c:idx val="5"/>
            <c:invertIfNegative val="0"/>
            <c:bubble3D val="0"/>
            <c:spPr>
              <a:solidFill>
                <a:srgbClr val="9AA0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674-A545-9F62-12731D213FBA}"/>
              </c:ext>
            </c:extLst>
          </c:dPt>
          <c:dLbls>
            <c:numFmt formatCode="&quot;$&quot;0.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Wine</c:v>
                </c:pt>
                <c:pt idx="1">
                  <c:v>Meat</c:v>
                </c:pt>
                <c:pt idx="2">
                  <c:v>Gold</c:v>
                </c:pt>
                <c:pt idx="3">
                  <c:v>Fish</c:v>
                </c:pt>
                <c:pt idx="4">
                  <c:v>Sweets</c:v>
                </c:pt>
                <c:pt idx="5">
                  <c:v>Fruit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680.8</c:v>
                </c:pt>
                <c:pt idx="1">
                  <c:v>374</c:v>
                </c:pt>
                <c:pt idx="2">
                  <c:v>98.6</c:v>
                </c:pt>
                <c:pt idx="3">
                  <c:v>84.1</c:v>
                </c:pt>
                <c:pt idx="4">
                  <c:v>60.6</c:v>
                </c:pt>
                <c:pt idx="5">
                  <c:v>58.9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674-A545-9F62-12731D213F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A5F73"/>
                    </a:solidFill>
                    <a:latin typeface="Arial"/>
                  </a:rPr>
                  <a:t>Total Spending ($ thousands)</a:t>
                </a:r>
              </a:p>
            </c:rich>
          </c:tx>
          <c:overlay val="0"/>
        </c:title>
        <c:numFmt formatCode="&quot;$&quot;0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FF-FD4A-BB4D-7D69DF9A1A5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0FF-FD4A-BB4D-7D69DF9A1A50}"/>
              </c:ext>
            </c:extLst>
          </c:dPt>
          <c:dPt>
            <c:idx val="2"/>
            <c:invertIfNegative val="0"/>
            <c:bubble3D val="0"/>
            <c:spPr>
              <a:solidFill>
                <a:srgbClr val="9AA0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FF-FD4A-BB4D-7D69DF9A1A50}"/>
              </c:ext>
            </c:extLst>
          </c:dPt>
          <c:dPt>
            <c:idx val="3"/>
            <c:invertIfNegative val="0"/>
            <c:bubble3D val="0"/>
            <c:spPr>
              <a:solidFill>
                <a:srgbClr val="9AA0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FF-FD4A-BB4D-7D69DF9A1A50}"/>
              </c:ext>
            </c:extLst>
          </c:dPt>
          <c:dPt>
            <c:idx val="4"/>
            <c:invertIfNegative val="0"/>
            <c:bubble3D val="0"/>
            <c:spPr>
              <a:solidFill>
                <a:srgbClr val="9AA0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0FF-FD4A-BB4D-7D69DF9A1A5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PhD</c:v>
                </c:pt>
                <c:pt idx="1">
                  <c:v>Master</c:v>
                </c:pt>
                <c:pt idx="2">
                  <c:v>Graduation</c:v>
                </c:pt>
                <c:pt idx="3">
                  <c:v>2n Cycle</c:v>
                </c:pt>
                <c:pt idx="4">
                  <c:v>Basic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20.8</c:v>
                </c:pt>
                <c:pt idx="1">
                  <c:v>15.4</c:v>
                </c:pt>
                <c:pt idx="2">
                  <c:v>13.5</c:v>
                </c:pt>
                <c:pt idx="3">
                  <c:v>10.8</c:v>
                </c:pt>
                <c:pt idx="4">
                  <c:v>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0FF-FD4A-BB4D-7D69DF9A1A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12700" cap="flat">
              <a:solidFill>
                <a:srgbClr val="E4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A5F73"/>
                    </a:solidFill>
                    <a:latin typeface="Arial"/>
                  </a:rPr>
                  <a:t>Response Rate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9AA0B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666-D84B-AE33-CFAC17E0A76D}"/>
              </c:ext>
            </c:extLst>
          </c:dPt>
          <c:dPt>
            <c:idx val="1"/>
            <c:invertIfNegative val="0"/>
            <c:bubble3D val="0"/>
            <c:spPr>
              <a:solidFill>
                <a:srgbClr val="D953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66-D84B-AE33-CFAC17E0A76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Contact Everyone
(2,240 customers)</c:v>
                </c:pt>
                <c:pt idx="1">
                  <c:v>Target Past Acceptors
(163 customers)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-45.3</c:v>
                </c:pt>
                <c:pt idx="1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66-D84B-AE33-CFAC17E0A7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A5F73"/>
                    </a:solidFill>
                    <a:latin typeface="Arial"/>
                  </a:rPr>
                  <a:t>Return on Investment (%)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120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1091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Customer Response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Marketing Campaigns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Capstone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Ferreira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0"/>
            <a:ext cx="2194560" cy="2194560"/>
          </a:xfrm>
          <a:prstGeom prst="ellipse">
            <a:avLst/>
          </a:prstGeom>
          <a:solidFill>
            <a:srgbClr val="D953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07040" y="4206240"/>
            <a:ext cx="1280160" cy="128016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08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company sends marketing campaigns to its customers.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some customers respond.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1064240" cy="2377440"/>
          </a:xfrm>
          <a:prstGeom prst="roundRect">
            <a:avLst>
              <a:gd name="adj" fmla="val 576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9966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predict, in advance, which customers are</a:t>
            </a:r>
            <a:endParaRPr lang="en-US" sz="2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likely to respond to the next campaign?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can, the company can target the right customers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get a better return on every campaign it sends.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</a:t>
            </a:r>
            <a:r>
              <a:rPr lang="en-US" sz="150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from </a:t>
            </a: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loyalty program, covering demographics,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history, and past marketing campaigns.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99516" y="237744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9516" y="32232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2,240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99516" y="3976551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2836" y="237744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02836" y="3246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402836" y="3976551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tracked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06156" y="237744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06156" y="3245031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106156" y="39547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marketing campaigns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 •  Spending by product category  •  Purchase channels  •  Campaign history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Is Rare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951549995"/>
              </p:ext>
            </p:extLst>
          </p:nvPr>
        </p:nvGraphicFramePr>
        <p:xfrm>
          <a:off x="548640" y="1371600"/>
          <a:ext cx="56692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675120" y="1828800"/>
            <a:ext cx="493776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675120" y="1920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14.9%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675120" y="2788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responded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last campaign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75120" y="40233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isn't reaching customers — it's knowing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ones are actually likely to say yes.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Predicts a Response?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each variable with campaign response (scale: -1 to 1)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106984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26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campaign behavior and spending matter far more than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or household size.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Behavior Is a Strong Signal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5486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492240" y="210312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92240" y="2194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~5x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492240" y="32461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respond if they accepted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 campaign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92240" y="4572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held consistently across the three campaigns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strongest correlation to Response.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Responders Spend More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spending per customer, by product category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106984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widest for wine and meat — the same two categories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showed up among the top predictors of response.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Spending Is Concentrated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 by product category, high to low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92024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589520" y="20116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589520" y="28803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spending comes from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Wine, Meat &amp; Gold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89520" y="41148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alone accounts for about half of everything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spend across all categories.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Pareto view: a small number of categories drive most of the spending.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Also Predicts Response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by education level (Chi-Square test: p = 0.0001)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92024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589520" y="20116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~5.6x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589520" y="28803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respond: PhD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Basic education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89520" y="41148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didn't show up in the correlation matrix because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 categorical — so we used a Chi-Square test instead.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Loss to Profit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 (ROI): profit earned per dollar spent contacting customers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92024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589520" y="20116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+107%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589520" y="28803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when targeting past acceptors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double the money spent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89520" y="41148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Mailing every customer returns -45% — every dollar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loses money overall. Targeting past acceptors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that into a +107% return instead.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309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= [(responses × $11 revenue) − (customers contacted × $3 cost)] ÷ (customers contacted × $3 cost)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06880"/>
            <a:ext cx="594360" cy="59436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706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20" dirty="0"/>
          </a:p>
        </p:txBody>
      </p:sp>
      <p:sp>
        <p:nvSpPr>
          <p:cNvPr id="5" name="Text 3"/>
          <p:cNvSpPr/>
          <p:nvPr/>
        </p:nvSpPr>
        <p:spPr>
          <a:xfrm>
            <a:off x="1417320" y="16611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 with prior campaign acceptance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0726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respond at roughly 5x the rate of non-acceptors — enough to turn the campaign profitable.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49880"/>
            <a:ext cx="594360" cy="59436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849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1417320" y="28041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high spenders in wine, meat &amp; gold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2156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3 categories make up about 85% of all customer spending (Pareto analysis).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92880"/>
            <a:ext cx="594360" cy="59436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992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1417320" y="39471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campaigns by education level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3586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and Master's customers respond up to ~5.6x more than Basic — confirmed with a Chi-Square test.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35880"/>
            <a:ext cx="594360" cy="59436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13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417320" y="50901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signals, don't rely on one factor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55016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variable is a strong predictor alone — a model blending several works best.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569</Words>
  <Application>Microsoft Macintosh PowerPoint</Application>
  <PresentationFormat>Widescreen</PresentationFormat>
  <Paragraphs>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Marina Ferreira</cp:lastModifiedBy>
  <cp:revision>3</cp:revision>
  <dcterms:created xsi:type="dcterms:W3CDTF">2026-08-26T16:10:53Z</dcterms:created>
  <dcterms:modified xsi:type="dcterms:W3CDTF">2026-08-26T16:51:02Z</dcterms:modified>
</cp:coreProperties>
</file>